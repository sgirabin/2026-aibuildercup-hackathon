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Google Sans Flex Medium"/>
      <p:regular r:id="rId21"/>
      <p:bold r:id="rId22"/>
    </p:embeddedFont>
    <p:embeddedFont>
      <p:font typeface="Google Sans Flex"/>
      <p:regular r:id="rId23"/>
      <p:bold r:id="rId24"/>
    </p:embeddedFont>
    <p:embeddedFont>
      <p:font typeface="Google Sans Flex SemiBol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bold.fntdata"/><Relationship Id="rId21" Type="http://schemas.openxmlformats.org/officeDocument/2006/relationships/font" Target="fonts/GoogleSansFlexMedium-regular.fntdata"/><Relationship Id="rId24" Type="http://schemas.openxmlformats.org/officeDocument/2006/relationships/font" Target="fonts/GoogleSansFlex-bold.fntdata"/><Relationship Id="rId23" Type="http://schemas.openxmlformats.org/officeDocument/2006/relationships/font" Target="fonts/GoogleSansFlex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bold.fntdata"/><Relationship Id="rId25" Type="http://schemas.openxmlformats.org/officeDocument/2006/relationships/font" Target="fonts/GoogleSansFlex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kiasu_agent_arch_2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kiasu_agent_arch_2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810225"/>
            <a:ext cx="8760000" cy="20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b="1" lang="en-GB" sz="1800">
                <a:latin typeface="Google Sans Flex"/>
                <a:ea typeface="Google Sans Flex"/>
                <a:cs typeface="Google Sans Flex"/>
                <a:sym typeface="Google Sans Flex"/>
              </a:rPr>
              <a:t>R4131N </a:t>
            </a:r>
            <a:endParaRPr b="1"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 </a:t>
            </a:r>
            <a:r>
              <a:rPr b="1" lang="en-GB" sz="1800">
                <a:latin typeface="Google Sans Flex"/>
                <a:ea typeface="Google Sans Flex"/>
                <a:cs typeface="Google Sans Flex"/>
                <a:sym typeface="Google Sans Flex"/>
              </a:rPr>
              <a:t>Isak Rabin</a:t>
            </a:r>
            <a:endParaRPr b="1"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 </a:t>
            </a:r>
            <a:r>
              <a:rPr b="1" lang="en-GB" sz="1800">
                <a:latin typeface="Google Sans Flex"/>
                <a:ea typeface="Google Sans Flex"/>
                <a:cs typeface="Google Sans Flex"/>
                <a:sym typeface="Google Sans Flex"/>
              </a:rPr>
              <a:t>KiasuCheck</a:t>
            </a: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 - Same Shop. Same Product. Why Pay More? AI-Powered Cross-Platform Price Transparency.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323100" y="663825"/>
            <a:ext cx="864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Google Sans Flex"/>
                <a:ea typeface="Google Sans Flex"/>
                <a:cs typeface="Google Sans Flex"/>
                <a:sym typeface="Google Sans Flex"/>
              </a:rPr>
              <a:t>KiasuCheck:  AI-Powered Cross-Platform Price Intelligence</a:t>
            </a:r>
            <a:endParaRPr b="1" sz="16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38900" y="1115650"/>
            <a:ext cx="83820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CC412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Same shop. Same product. Different prices across platforms.</a:t>
            </a:r>
            <a:endParaRPr b="1" sz="1600">
              <a:solidFill>
                <a:srgbClr val="CC4125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CC412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Don’t lose out. Check before you buy.</a:t>
            </a:r>
            <a:endParaRPr b="1" sz="1600">
              <a:solidFill>
                <a:srgbClr val="CC4125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355650" y="1903806"/>
            <a:ext cx="4953000" cy="2793900"/>
          </a:xfrm>
          <a:prstGeom prst="roundRect">
            <a:avLst>
              <a:gd fmla="val 16667" name="adj"/>
            </a:avLst>
          </a:prstGeom>
          <a:solidFill>
            <a:srgbClr val="11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357325" y="2333009"/>
            <a:ext cx="48300" cy="1930500"/>
          </a:xfrm>
          <a:prstGeom prst="roundRect">
            <a:avLst>
              <a:gd fmla="val 16667" name="adj"/>
            </a:avLst>
          </a:prstGeom>
          <a:solidFill>
            <a:srgbClr val="17CD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616600" y="2088181"/>
            <a:ext cx="4528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7CDBD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PRICE GAP</a:t>
            </a:r>
            <a:endParaRPr b="1" sz="1200">
              <a:solidFill>
                <a:srgbClr val="17CDBD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16600" y="2333006"/>
            <a:ext cx="4597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seller. Multiple platforms. Different prices?</a:t>
            </a:r>
            <a:endParaRPr b="1" sz="24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16600" y="3186606"/>
            <a:ext cx="4597500" cy="13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A8B7C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same merchant can list identical products at different prices across </a:t>
            </a:r>
            <a:r>
              <a:rPr lang="en-GB" sz="1200">
                <a:solidFill>
                  <a:srgbClr val="A8B7C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shopping</a:t>
            </a:r>
            <a:r>
              <a:rPr lang="en-GB" sz="1200">
                <a:solidFill>
                  <a:srgbClr val="A8B7C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platforms without shoppers easily recognising the differences. </a:t>
            </a:r>
            <a:endParaRPr sz="1200">
              <a:solidFill>
                <a:srgbClr val="A8B7C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A8B7C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A8B7C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KiasuCheck uses AI to identify the same seller and product across shopping platforms, reveal price differences and support informed buying decisions.</a:t>
            </a:r>
            <a:endParaRPr sz="1200">
              <a:solidFill>
                <a:srgbClr val="A8B7C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5613450" y="1903806"/>
            <a:ext cx="3174900" cy="14163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5613450" y="1903806"/>
            <a:ext cx="63600" cy="1416300"/>
          </a:xfrm>
          <a:prstGeom prst="roundRect">
            <a:avLst>
              <a:gd fmla="val 16667" name="adj"/>
            </a:avLst>
          </a:prstGeom>
          <a:solidFill>
            <a:srgbClr val="F05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5846575" y="1973331"/>
            <a:ext cx="2884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05A6B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PROBLEM</a:t>
            </a:r>
            <a:endParaRPr b="1" sz="800">
              <a:solidFill>
                <a:srgbClr val="F05A6B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5846575" y="2150169"/>
            <a:ext cx="288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Cross-platform price differences</a:t>
            </a:r>
            <a:endParaRPr b="1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5846575" y="2449106"/>
            <a:ext cx="28845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same seller may charge different prices across platforms, hidden behind different shop names and product listings.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5613450" y="3415106"/>
            <a:ext cx="3174900" cy="12828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5613450" y="3415106"/>
            <a:ext cx="63600" cy="1282800"/>
          </a:xfrm>
          <a:prstGeom prst="roundRect">
            <a:avLst>
              <a:gd fmla="val 16667" name="adj"/>
            </a:avLst>
          </a:prstGeom>
          <a:solidFill>
            <a:srgbClr val="B8F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5874400" y="3486839"/>
            <a:ext cx="2819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6AA84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SOLUTION</a:t>
            </a:r>
            <a:endParaRPr b="1" sz="800">
              <a:solidFill>
                <a:srgbClr val="6AA84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5874400" y="3662947"/>
            <a:ext cx="2921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AI-powered price transparency</a:t>
            </a:r>
            <a:endParaRPr b="1" sz="15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874400" y="3936256"/>
            <a:ext cx="281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 identifies the same seller and product across platforms, compares available prices and shows supporting evidence.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355600" y="11049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Why the Same Merchant Can Have Different Prices </a:t>
            </a:r>
            <a:endParaRPr sz="11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355600" y="1612900"/>
            <a:ext cx="2667000" cy="20067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355600" y="1612900"/>
            <a:ext cx="63600" cy="2006700"/>
          </a:xfrm>
          <a:prstGeom prst="roundRect">
            <a:avLst>
              <a:gd fmla="val 16667" name="adj"/>
            </a:avLst>
          </a:prstGeom>
          <a:solidFill>
            <a:srgbClr val="775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558800" y="1765300"/>
            <a:ext cx="2311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7758F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REALITY 01</a:t>
            </a:r>
            <a:endParaRPr b="1" sz="800">
              <a:solidFill>
                <a:srgbClr val="7758F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558800" y="2019300"/>
            <a:ext cx="2311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seller, many storefronts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558800" y="2705000"/>
            <a:ext cx="231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Merchants may sell across platforms under the same store name or different identities.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3238500" y="1612900"/>
            <a:ext cx="2667000" cy="20067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3238500" y="1612900"/>
            <a:ext cx="63600" cy="2006700"/>
          </a:xfrm>
          <a:prstGeom prst="roundRect">
            <a:avLst>
              <a:gd fmla="val 16667" name="adj"/>
            </a:avLst>
          </a:prstGeom>
          <a:solidFill>
            <a:srgbClr val="F05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3441700" y="1765300"/>
            <a:ext cx="2311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05A6B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REALITY 02</a:t>
            </a:r>
            <a:endParaRPr b="1" sz="800">
              <a:solidFill>
                <a:srgbClr val="F05A6B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3441700" y="2019300"/>
            <a:ext cx="2311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Same product, different prices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3441700" y="2747575"/>
            <a:ext cx="231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same merchant may list identical products at different prices on different platforms.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6121400" y="1612900"/>
            <a:ext cx="2667000" cy="20067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6121400" y="1612900"/>
            <a:ext cx="63600" cy="2006700"/>
          </a:xfrm>
          <a:prstGeom prst="roundRect">
            <a:avLst>
              <a:gd fmla="val 16667" name="adj"/>
            </a:avLst>
          </a:prstGeom>
          <a:solidFill>
            <a:srgbClr val="17CD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6324600" y="1765300"/>
            <a:ext cx="2311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17CDBD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REALITY 03</a:t>
            </a:r>
            <a:endParaRPr b="1" sz="800">
              <a:solidFill>
                <a:srgbClr val="17CDBD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6324600" y="2019300"/>
            <a:ext cx="2311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Difficult to compare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6324600" y="2705000"/>
            <a:ext cx="231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Different product titles, vouchers and shipping fees make the real price gap difficult to identify.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41100" y="4163388"/>
            <a:ext cx="8432700" cy="546000"/>
          </a:xfrm>
          <a:prstGeom prst="roundRect">
            <a:avLst>
              <a:gd fmla="val 16667" name="adj"/>
            </a:avLst>
          </a:prstGeom>
          <a:solidFill>
            <a:srgbClr val="11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95100" y="4247853"/>
            <a:ext cx="792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Beyond price comparison: reveal hidden price differences across a seller’s storefronts.</a:t>
            </a:r>
            <a:endParaRPr b="1" sz="12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355600" y="647700"/>
            <a:ext cx="86400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Opportunity:  Cross-Platform Price Transparency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341100" y="3982088"/>
            <a:ext cx="300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7758F6"/>
                </a:solidFill>
              </a:rPr>
              <a:t>UNIQUE SELLING PROPOSITION</a:t>
            </a:r>
            <a:endParaRPr b="1" sz="1200">
              <a:solidFill>
                <a:srgbClr val="7758F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265350" y="663825"/>
            <a:ext cx="864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Google Sans Flex"/>
                <a:ea typeface="Google Sans Flex"/>
                <a:cs typeface="Google Sans Flex"/>
                <a:sym typeface="Google Sans Flex"/>
              </a:rPr>
              <a:t>From a Product Listing to a Verified Price Comparison</a:t>
            </a:r>
            <a:endParaRPr b="1" sz="16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355600" y="1104900"/>
            <a:ext cx="838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Four capabilities turn fragmented listings into evidence-backed price transparency.</a:t>
            </a:r>
            <a:endParaRPr sz="11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55600" y="1625600"/>
            <a:ext cx="1955700" cy="21972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355600" y="1625600"/>
            <a:ext cx="63600" cy="2197200"/>
          </a:xfrm>
          <a:prstGeom prst="roundRect">
            <a:avLst>
              <a:gd fmla="val 16667" name="adj"/>
            </a:avLst>
          </a:prstGeom>
          <a:solidFill>
            <a:srgbClr val="775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58800" y="1778000"/>
            <a:ext cx="160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7758F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01 · SEE</a:t>
            </a:r>
            <a:endParaRPr b="1" sz="800">
              <a:solidFill>
                <a:srgbClr val="7758F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558800" y="2032000"/>
            <a:ext cx="16002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Multimodal input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558800" y="2716775"/>
            <a:ext cx="16002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Screenshot, URL or product name.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2514600" y="1625600"/>
            <a:ext cx="1955700" cy="21972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2514600" y="1625600"/>
            <a:ext cx="63600" cy="2197200"/>
          </a:xfrm>
          <a:prstGeom prst="roundRect">
            <a:avLst>
              <a:gd fmla="val 16667" name="adj"/>
            </a:avLst>
          </a:prstGeom>
          <a:solidFill>
            <a:srgbClr val="17CD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2717800" y="1778000"/>
            <a:ext cx="160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17CDBD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02 · SEARCH</a:t>
            </a:r>
            <a:endParaRPr b="1" sz="800">
              <a:solidFill>
                <a:srgbClr val="17CDBD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2717800" y="2032000"/>
            <a:ext cx="16002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Grounded discovery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2717800" y="2716775"/>
            <a:ext cx="16002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Public Shopee, Lazada, TikTok Shop and retailers.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4673600" y="1625600"/>
            <a:ext cx="1955700" cy="21972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4673600" y="1625600"/>
            <a:ext cx="63600" cy="2197200"/>
          </a:xfrm>
          <a:prstGeom prst="roundRect">
            <a:avLst>
              <a:gd fmla="val 16667" name="adj"/>
            </a:avLst>
          </a:prstGeom>
          <a:solidFill>
            <a:srgbClr val="F05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825900" y="1778000"/>
            <a:ext cx="160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05A6B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03 · VERIFY</a:t>
            </a:r>
            <a:endParaRPr b="1" sz="800">
              <a:solidFill>
                <a:srgbClr val="F05A6B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4825900" y="2032000"/>
            <a:ext cx="18069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Seller + product identity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4825900" y="2716775"/>
            <a:ext cx="19557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Match the merchant and exact product variant; flag uncertainty.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6832600" y="1625600"/>
            <a:ext cx="1955700" cy="21972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6832600" y="1625600"/>
            <a:ext cx="63600" cy="2197200"/>
          </a:xfrm>
          <a:prstGeom prst="roundRect">
            <a:avLst>
              <a:gd fmla="val 16667" name="adj"/>
            </a:avLst>
          </a:prstGeom>
          <a:solidFill>
            <a:srgbClr val="B8F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035800" y="1778000"/>
            <a:ext cx="160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6AA84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04 · EXPLAIN</a:t>
            </a:r>
            <a:endParaRPr b="1" sz="800">
              <a:solidFill>
                <a:srgbClr val="6AA84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7035800" y="2032000"/>
            <a:ext cx="19080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Price difference + proof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7035800" y="2716775"/>
            <a:ext cx="16002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Platform prices, sources, uncertainty and potential savings.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1489350" y="4076700"/>
            <a:ext cx="6165300" cy="406500"/>
          </a:xfrm>
          <a:prstGeom prst="roundRect">
            <a:avLst>
              <a:gd fmla="val 16667" name="adj"/>
            </a:avLst>
          </a:prstGeom>
          <a:solidFill>
            <a:srgbClr val="11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661550" y="4086704"/>
            <a:ext cx="582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 proposes evidence. The shopper decides.</a:t>
            </a:r>
            <a:endParaRPr b="1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265350" y="663825"/>
            <a:ext cx="864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Google Sans Flex"/>
                <a:ea typeface="Google Sans Flex"/>
                <a:cs typeface="Google Sans Flex"/>
                <a:sym typeface="Google Sans Flex"/>
              </a:rPr>
              <a:t>How KiasuCheck Investigates a Price Difference</a:t>
            </a:r>
            <a:endParaRPr b="1" sz="16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355600" y="1104900"/>
            <a:ext cx="838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 iterative AI investigation: identify, search, verify and compare.</a:t>
            </a:r>
            <a:endParaRPr sz="11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355600" y="1701800"/>
            <a:ext cx="1917600" cy="16200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355600" y="1701800"/>
            <a:ext cx="63600" cy="1620000"/>
          </a:xfrm>
          <a:prstGeom prst="roundRect">
            <a:avLst>
              <a:gd fmla="val 16667" name="adj"/>
            </a:avLst>
          </a:prstGeom>
          <a:solidFill>
            <a:srgbClr val="775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14450" y="1854200"/>
            <a:ext cx="1562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7758F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01 · OBSERVE</a:t>
            </a:r>
            <a:endParaRPr b="1" sz="800">
              <a:solidFill>
                <a:srgbClr val="7758F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14450" y="2078371"/>
            <a:ext cx="191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Screenshot / URL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514450" y="2632971"/>
            <a:ext cx="1872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Read messy marketplace context.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527300" y="1701800"/>
            <a:ext cx="1917600" cy="16200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2527300" y="1701800"/>
            <a:ext cx="63600" cy="1620000"/>
          </a:xfrm>
          <a:prstGeom prst="roundRect">
            <a:avLst>
              <a:gd fmla="val 16667" name="adj"/>
            </a:avLst>
          </a:prstGeom>
          <a:solidFill>
            <a:srgbClr val="17CD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2730500" y="1854200"/>
            <a:ext cx="1562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17CDBD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02 · PLAN</a:t>
            </a:r>
            <a:endParaRPr b="1" sz="800">
              <a:solidFill>
                <a:srgbClr val="17CDBD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2730500" y="2078371"/>
            <a:ext cx="15621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Identify shop + SKU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2730500" y="2632971"/>
            <a:ext cx="156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Find seller aliases and the product's key attributes.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4699000" y="1701800"/>
            <a:ext cx="1917600" cy="16200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4699000" y="1701800"/>
            <a:ext cx="63600" cy="1620000"/>
          </a:xfrm>
          <a:prstGeom prst="roundRect">
            <a:avLst>
              <a:gd fmla="val 16667" name="adj"/>
            </a:avLst>
          </a:prstGeom>
          <a:solidFill>
            <a:srgbClr val="FFB4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4902200" y="1854200"/>
            <a:ext cx="1562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FB45B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03 · SEARCH</a:t>
            </a:r>
            <a:endParaRPr b="1" sz="800">
              <a:solidFill>
                <a:srgbClr val="FFB45B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4902200" y="2078371"/>
            <a:ext cx="1562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Grounded web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4902200" y="2632971"/>
            <a:ext cx="15621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Gather public evidence.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870700" y="1701800"/>
            <a:ext cx="1917600" cy="16200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6870700" y="1701800"/>
            <a:ext cx="63600" cy="1620000"/>
          </a:xfrm>
          <a:prstGeom prst="roundRect">
            <a:avLst>
              <a:gd fmla="val 16667" name="adj"/>
            </a:avLst>
          </a:prstGeom>
          <a:solidFill>
            <a:srgbClr val="B8F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7073900" y="1854200"/>
            <a:ext cx="1562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6AA84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04 · VERIFY</a:t>
            </a:r>
            <a:endParaRPr b="1" sz="800">
              <a:solidFill>
                <a:srgbClr val="6AA84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7073900" y="2078371"/>
            <a:ext cx="15621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Compare verified offers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7073900" y="2632971"/>
            <a:ext cx="156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Exclude mismatches; calculate comparable price differences.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1892275" y="3568700"/>
            <a:ext cx="5567400" cy="787500"/>
          </a:xfrm>
          <a:prstGeom prst="roundRect">
            <a:avLst>
              <a:gd fmla="val 16667" name="adj"/>
            </a:avLst>
          </a:prstGeom>
          <a:solidFill>
            <a:srgbClr val="11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2781300" y="3708400"/>
            <a:ext cx="3581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B8FF5C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HUMAN DECISION</a:t>
            </a:r>
            <a:endParaRPr b="1" sz="800">
              <a:solidFill>
                <a:srgbClr val="B8FF5C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2466475" y="3921475"/>
            <a:ext cx="4419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Review sources · confirm checkout price · choose platform</a:t>
            </a:r>
            <a:endParaRPr b="1" sz="11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265350" y="663825"/>
            <a:ext cx="864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Google Sans Flex"/>
                <a:ea typeface="Google Sans Flex"/>
                <a:cs typeface="Google Sans Flex"/>
                <a:sym typeface="Google Sans Flex"/>
              </a:rPr>
              <a:t>Working Prototype · Web App &amp; Chrome Extension</a:t>
            </a:r>
            <a:endParaRPr b="1" sz="16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355600" y="1104900"/>
            <a:ext cx="838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Two ways to check: enter a product online or investigate directly from a shopping page.</a:t>
            </a:r>
            <a:endParaRPr sz="11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179" name="Google Shape;179;p18" title="Screenshot 2026-10-18 at 20.51.5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6400" y="2085425"/>
            <a:ext cx="2313025" cy="16620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887150" y="1669050"/>
            <a:ext cx="3733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F456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Chrome Extension · Live on Shopee</a:t>
            </a:r>
            <a:endParaRPr b="1" sz="1600">
              <a:solidFill>
                <a:srgbClr val="1F456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181" name="Google Shape;181;p18" title="Screenshot 2026-10-18 at 20.53.4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600" y="2085437"/>
            <a:ext cx="2003940" cy="116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5926375" y="1669045"/>
            <a:ext cx="262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674EA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Deployed Web Application</a:t>
            </a:r>
            <a:endParaRPr b="1" sz="1600">
              <a:solidFill>
                <a:srgbClr val="674EA7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183" name="Google Shape;183;p18" title="Screenshot 2026-10-18 at 21.00.0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6500" y="3311850"/>
            <a:ext cx="2692801" cy="152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Screenshot 2026-10-18 at 22.23.34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49186" y="1994900"/>
            <a:ext cx="3533191" cy="2013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title="Screenshot 2026-10-18 at 22.22.44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99075" y="3123531"/>
            <a:ext cx="2627401" cy="1569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265350" y="663825"/>
            <a:ext cx="864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Google Sans Flex"/>
                <a:ea typeface="Google Sans Flex"/>
                <a:cs typeface="Google Sans Flex"/>
                <a:sym typeface="Google Sans Flex"/>
              </a:rPr>
              <a:t>Architecture: From </a:t>
            </a:r>
            <a:r>
              <a:rPr b="1" lang="en-GB" sz="1600">
                <a:latin typeface="Google Sans Flex"/>
                <a:ea typeface="Google Sans Flex"/>
                <a:cs typeface="Google Sans Flex"/>
                <a:sym typeface="Google Sans Flex"/>
              </a:rPr>
              <a:t>Browser to Agentic AI</a:t>
            </a:r>
            <a:endParaRPr b="1" sz="16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355600" y="11049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 connects the shopping experience to Gemini-led investigation and verified price results.</a:t>
            </a:r>
            <a:endParaRPr sz="11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355600" y="1841500"/>
            <a:ext cx="1600200" cy="16200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355600" y="1841500"/>
            <a:ext cx="63600" cy="1620000"/>
          </a:xfrm>
          <a:prstGeom prst="roundRect">
            <a:avLst>
              <a:gd fmla="val 16667" name="adj"/>
            </a:avLst>
          </a:prstGeom>
          <a:solidFill>
            <a:srgbClr val="775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558800" y="1993900"/>
            <a:ext cx="1244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7758F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USER EXPERIENCE</a:t>
            </a:r>
            <a:endParaRPr b="1" sz="800">
              <a:solidFill>
                <a:srgbClr val="7758F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558800" y="2247900"/>
            <a:ext cx="13971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Web + Chrome extension</a:t>
            </a:r>
            <a:endParaRPr b="1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558800" y="2767202"/>
            <a:ext cx="12447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Listing URL / screenshot → API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2146300" y="1841500"/>
            <a:ext cx="1600200" cy="16200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2146300" y="1841500"/>
            <a:ext cx="63600" cy="1620000"/>
          </a:xfrm>
          <a:prstGeom prst="roundRect">
            <a:avLst>
              <a:gd fmla="val 16667" name="adj"/>
            </a:avLst>
          </a:prstGeom>
          <a:solidFill>
            <a:srgbClr val="17CD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2349500" y="1993900"/>
            <a:ext cx="1244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17CDBD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 · API</a:t>
            </a:r>
            <a:endParaRPr b="1" sz="800">
              <a:solidFill>
                <a:srgbClr val="17CDBD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2349500" y="2247900"/>
            <a:ext cx="12447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FastAPI + orchestrator</a:t>
            </a:r>
            <a:endParaRPr b="1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2349500" y="2767202"/>
            <a:ext cx="12447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Receives request; runs agent loop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3937000" y="1511300"/>
            <a:ext cx="1993800" cy="11811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3937000" y="1511300"/>
            <a:ext cx="63600" cy="1181100"/>
          </a:xfrm>
          <a:prstGeom prst="roundRect">
            <a:avLst>
              <a:gd fmla="val 16667" name="adj"/>
            </a:avLst>
          </a:prstGeom>
          <a:solidFill>
            <a:srgbClr val="FFB4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4140200" y="1615658"/>
            <a:ext cx="1638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FB45B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· IDENTITY</a:t>
            </a:r>
            <a:endParaRPr b="1" sz="800">
              <a:solidFill>
                <a:srgbClr val="FFB45B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4140200" y="1797595"/>
            <a:ext cx="16383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Match merchant + item</a:t>
            </a:r>
            <a:endParaRPr b="1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4140200" y="2269430"/>
            <a:ext cx="16383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 resolves aliases and variants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3937000" y="2870200"/>
            <a:ext cx="1993800" cy="11811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3937000" y="2870200"/>
            <a:ext cx="63600" cy="1181100"/>
          </a:xfrm>
          <a:prstGeom prst="roundRect">
            <a:avLst>
              <a:gd fmla="val 16667" name="adj"/>
            </a:avLst>
          </a:prstGeom>
          <a:solidFill>
            <a:srgbClr val="17CD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4140200" y="3022600"/>
            <a:ext cx="1638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17CDBD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 TOOL · SEARCH</a:t>
            </a:r>
            <a:endParaRPr b="1" sz="800">
              <a:solidFill>
                <a:srgbClr val="17CDBD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4140200" y="3194567"/>
            <a:ext cx="16383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Find platform listings</a:t>
            </a:r>
            <a:endParaRPr b="1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4140200" y="3648242"/>
            <a:ext cx="16383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Grounded search + source evidence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6121400" y="1841500"/>
            <a:ext cx="2667000" cy="16200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6121400" y="1841500"/>
            <a:ext cx="63600" cy="1620000"/>
          </a:xfrm>
          <a:prstGeom prst="roundRect">
            <a:avLst>
              <a:gd fmla="val 16667" name="adj"/>
            </a:avLst>
          </a:prstGeom>
          <a:solidFill>
            <a:srgbClr val="B8F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324600" y="1993900"/>
            <a:ext cx="2311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6AA84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RULE ENGINE · API</a:t>
            </a:r>
            <a:endParaRPr b="1" sz="800">
              <a:solidFill>
                <a:srgbClr val="6AA84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6324600" y="2346340"/>
            <a:ext cx="231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Validate + price check</a:t>
            </a:r>
            <a:endParaRPr b="1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6324600" y="2767202"/>
            <a:ext cx="231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Reject mismatches; calculate gap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1328850" y="4254500"/>
            <a:ext cx="6486300" cy="355500"/>
          </a:xfrm>
          <a:prstGeom prst="roundRect">
            <a:avLst>
              <a:gd fmla="val 16667" name="adj"/>
            </a:avLst>
          </a:prstGeom>
          <a:solidFill>
            <a:srgbClr val="11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1489625" y="4368800"/>
            <a:ext cx="6119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1C232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RESPONSE → API → browser: price differences, source links and uncertainty</a:t>
            </a:r>
            <a:endParaRPr b="1" sz="12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cxnSp>
        <p:nvCxnSpPr>
          <p:cNvPr id="222" name="Google Shape;222;p19"/>
          <p:cNvCxnSpPr/>
          <p:nvPr/>
        </p:nvCxnSpPr>
        <p:spPr>
          <a:xfrm>
            <a:off x="1980000" y="2640000"/>
            <a:ext cx="15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19"/>
          <p:cNvCxnSpPr/>
          <p:nvPr/>
        </p:nvCxnSpPr>
        <p:spPr>
          <a:xfrm>
            <a:off x="3760000" y="2430000"/>
            <a:ext cx="15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19"/>
          <p:cNvCxnSpPr/>
          <p:nvPr/>
        </p:nvCxnSpPr>
        <p:spPr>
          <a:xfrm>
            <a:off x="4930000" y="2720000"/>
            <a:ext cx="0" cy="12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19"/>
          <p:cNvCxnSpPr/>
          <p:nvPr/>
        </p:nvCxnSpPr>
        <p:spPr>
          <a:xfrm>
            <a:off x="5940000" y="2650000"/>
            <a:ext cx="170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/>
        </p:nvSpPr>
        <p:spPr>
          <a:xfrm>
            <a:off x="365690" y="604030"/>
            <a:ext cx="841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Google Sans Flex"/>
                <a:ea typeface="Google Sans Flex"/>
                <a:cs typeface="Google Sans Flex"/>
                <a:sym typeface="Google Sans Flex"/>
              </a:rPr>
              <a:t>Agent Architecture · Inside KiasuCheck</a:t>
            </a:r>
            <a:endParaRPr b="1" sz="16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365790" y="966419"/>
            <a:ext cx="832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Cloud Run agent coordinates Gemini analysis, grounded search and deterministic verification.</a:t>
            </a:r>
            <a:endParaRPr sz="11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2560350" y="1496771"/>
            <a:ext cx="4023300" cy="713100"/>
          </a:xfrm>
          <a:prstGeom prst="roundRect">
            <a:avLst>
              <a:gd fmla="val 16667" name="adj"/>
            </a:avLst>
          </a:prstGeom>
          <a:solidFill>
            <a:srgbClr val="0F21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ORCHESTRATOR</a:t>
            </a:r>
            <a:endParaRPr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Plan checks · track evidence · decide whether to continue</a:t>
            </a:r>
            <a:endParaRPr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4416582" y="2219147"/>
            <a:ext cx="365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F213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↓</a:t>
            </a:r>
            <a:endParaRPr sz="1500">
              <a:solidFill>
                <a:srgbClr val="0F2138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320070" y="2584907"/>
            <a:ext cx="2651700" cy="941700"/>
          </a:xfrm>
          <a:prstGeom prst="roundRect">
            <a:avLst>
              <a:gd fmla="val 16667" name="adj"/>
            </a:avLst>
          </a:prstGeom>
          <a:solidFill>
            <a:srgbClr val="1F45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IDENTITY ANALYSIS</a:t>
            </a:r>
            <a:endParaRPr sz="12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fingerprint + seller / product / bundle matching</a:t>
            </a:r>
            <a:endParaRPr sz="12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3246150" y="2584907"/>
            <a:ext cx="2651700" cy="941700"/>
          </a:xfrm>
          <a:prstGeom prst="roundRect">
            <a:avLst>
              <a:gd fmla="val 16667" name="adj"/>
            </a:avLst>
          </a:prstGeom>
          <a:solidFill>
            <a:srgbClr val="056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SEARCH &amp; EVIDENCE</a:t>
            </a:r>
            <a:endParaRPr sz="12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Google Search grounding · candidate listings + source evidence</a:t>
            </a:r>
            <a:endParaRPr sz="12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6172230" y="2584907"/>
            <a:ext cx="2651700" cy="941700"/>
          </a:xfrm>
          <a:prstGeom prst="roundRect">
            <a:avLst>
              <a:gd fmla="val 16667" name="adj"/>
            </a:avLst>
          </a:prstGeom>
          <a:solidFill>
            <a:srgbClr val="1F45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DETERMINISTIC VERIFICATION</a:t>
            </a:r>
            <a:endParaRPr sz="12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Score identity · reject conflicts · calculate price differences</a:t>
            </a:r>
            <a:endParaRPr sz="12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2615577" y="3695663"/>
            <a:ext cx="40710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F213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Optional retry: refine search terms when no supported candidate is found</a:t>
            </a:r>
            <a:endParaRPr sz="1200">
              <a:solidFill>
                <a:srgbClr val="0F2138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640110" y="4313123"/>
            <a:ext cx="7909500" cy="502800"/>
          </a:xfrm>
          <a:prstGeom prst="roundRect">
            <a:avLst>
              <a:gd fmla="val 16667" name="adj"/>
            </a:avLst>
          </a:prstGeom>
          <a:solidFill>
            <a:srgbClr val="0F21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RESULT BUILDER · Strong / possible / rejected matches · prices · sources · evidence confidence</a:t>
            </a:r>
            <a:endParaRPr sz="12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239" name="Google Shape;239;p20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 rot="3682472">
            <a:off x="2431555" y="2127355"/>
            <a:ext cx="365699" cy="7323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F213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↓</a:t>
            </a:r>
            <a:endParaRPr sz="1500">
              <a:solidFill>
                <a:srgbClr val="0F2138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 rot="-3445887">
            <a:off x="6194759" y="2175685"/>
            <a:ext cx="365590" cy="4805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F213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↓</a:t>
            </a:r>
            <a:endParaRPr sz="1500">
              <a:solidFill>
                <a:srgbClr val="0F2138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265350" y="663825"/>
            <a:ext cx="864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Google Sans Flex"/>
                <a:ea typeface="Google Sans Flex"/>
                <a:cs typeface="Google Sans Flex"/>
                <a:sym typeface="Google Sans Flex"/>
              </a:rPr>
              <a:t>Technology Stack: Built on Google Cloud</a:t>
            </a:r>
            <a:endParaRPr b="1" sz="16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355600" y="1104900"/>
            <a:ext cx="838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Services powering the web experience, agent reasoning and evidence-based results.</a:t>
            </a:r>
            <a:endParaRPr sz="11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355600" y="1587500"/>
            <a:ext cx="2616300" cy="12573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355600" y="1587500"/>
            <a:ext cx="63600" cy="1257300"/>
          </a:xfrm>
          <a:prstGeom prst="roundRect">
            <a:avLst>
              <a:gd fmla="val 16667" name="adj"/>
            </a:avLst>
          </a:prstGeom>
          <a:solidFill>
            <a:srgbClr val="FFB4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558800" y="1739900"/>
            <a:ext cx="2260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FB45B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GENAI</a:t>
            </a:r>
            <a:endParaRPr b="1" sz="800">
              <a:solidFill>
                <a:srgbClr val="FFB45B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558800" y="1939211"/>
            <a:ext cx="226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3.5 Flash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558800" y="2425700"/>
            <a:ext cx="24132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Vision + seller and product matching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3263900" y="1587500"/>
            <a:ext cx="2616300" cy="12573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3263900" y="1587500"/>
            <a:ext cx="63600" cy="1257300"/>
          </a:xfrm>
          <a:prstGeom prst="roundRect">
            <a:avLst>
              <a:gd fmla="val 16667" name="adj"/>
            </a:avLst>
          </a:prstGeom>
          <a:solidFill>
            <a:srgbClr val="17CD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3467100" y="1739900"/>
            <a:ext cx="2260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17CDBD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FRESHNESS</a:t>
            </a:r>
            <a:endParaRPr b="1" sz="800">
              <a:solidFill>
                <a:srgbClr val="17CDBD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3467100" y="1939211"/>
            <a:ext cx="2490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Google Search grounding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3467100" y="2522600"/>
            <a:ext cx="226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Current public results + sources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6172200" y="1587500"/>
            <a:ext cx="2616300" cy="12573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"/>
          <p:cNvSpPr/>
          <p:nvPr/>
        </p:nvSpPr>
        <p:spPr>
          <a:xfrm>
            <a:off x="6172200" y="1587500"/>
            <a:ext cx="63600" cy="1257300"/>
          </a:xfrm>
          <a:prstGeom prst="roundRect">
            <a:avLst>
              <a:gd fmla="val 16667" name="adj"/>
            </a:avLst>
          </a:prstGeom>
          <a:solidFill>
            <a:srgbClr val="775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375400" y="1739900"/>
            <a:ext cx="2260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7758F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RUNTIME</a:t>
            </a:r>
            <a:endParaRPr b="1" sz="800">
              <a:solidFill>
                <a:srgbClr val="7758F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6375400" y="1939211"/>
            <a:ext cx="226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6375400" y="2425700"/>
            <a:ext cx="226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Containerised mobile web + API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355600" y="3073400"/>
            <a:ext cx="2616300" cy="12573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355600" y="3073400"/>
            <a:ext cx="63600" cy="1257300"/>
          </a:xfrm>
          <a:prstGeom prst="roundRect">
            <a:avLst>
              <a:gd fmla="val 16667" name="adj"/>
            </a:avLst>
          </a:prstGeom>
          <a:solidFill>
            <a:srgbClr val="775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558800" y="3225800"/>
            <a:ext cx="2260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7758F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DELIVERY</a:t>
            </a:r>
            <a:endParaRPr b="1" sz="800">
              <a:solidFill>
                <a:srgbClr val="7758F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558800" y="3479800"/>
            <a:ext cx="226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Build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558800" y="3911600"/>
            <a:ext cx="226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Repeatable source deployment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3263900" y="3073400"/>
            <a:ext cx="2616300" cy="12573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3263900" y="3073400"/>
            <a:ext cx="63600" cy="1257300"/>
          </a:xfrm>
          <a:prstGeom prst="roundRect">
            <a:avLst>
              <a:gd fmla="val 16667" name="adj"/>
            </a:avLst>
          </a:prstGeom>
          <a:solidFill>
            <a:srgbClr val="B8F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3467100" y="3225800"/>
            <a:ext cx="2260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6AA84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EXPERIENCE</a:t>
            </a:r>
            <a:endParaRPr b="1" sz="800">
              <a:solidFill>
                <a:srgbClr val="6AA84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3467100" y="3479800"/>
            <a:ext cx="226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Chrome Manifest V3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3467100" y="3911600"/>
            <a:ext cx="22605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Active-page cross-platform price check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6172200" y="3073400"/>
            <a:ext cx="2616300" cy="12573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6172200" y="3073400"/>
            <a:ext cx="63600" cy="1257300"/>
          </a:xfrm>
          <a:prstGeom prst="roundRect">
            <a:avLst>
              <a:gd fmla="val 16667" name="adj"/>
            </a:avLst>
          </a:prstGeom>
          <a:solidFill>
            <a:srgbClr val="F05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375400" y="3225800"/>
            <a:ext cx="2260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05A6B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TRUST</a:t>
            </a:r>
            <a:endParaRPr b="1" sz="800">
              <a:solidFill>
                <a:srgbClr val="F05A6B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6375400" y="3479800"/>
            <a:ext cx="226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Python match scorer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6375400" y="3911600"/>
            <a:ext cx="22605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Auditable seller and SKU matching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265350" y="663825"/>
            <a:ext cx="864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Google Sans Flex"/>
                <a:ea typeface="Google Sans Flex"/>
                <a:cs typeface="Google Sans Flex"/>
                <a:sym typeface="Google Sans Flex"/>
              </a:rPr>
              <a:t>Cost &amp; Scalability · Lean by Design</a:t>
            </a:r>
            <a:endParaRPr b="1" sz="16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355600" y="1104900"/>
            <a:ext cx="838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Pay-per-use AI and serverless compute keep prototype operating costs controlled.</a:t>
            </a:r>
            <a:endParaRPr sz="11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355600" y="1600200"/>
            <a:ext cx="3200400" cy="2730600"/>
          </a:xfrm>
          <a:prstGeom prst="roundRect">
            <a:avLst>
              <a:gd fmla="val 16667" name="adj"/>
            </a:avLst>
          </a:prstGeom>
          <a:solidFill>
            <a:srgbClr val="11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355600" y="1600200"/>
            <a:ext cx="63600" cy="2730600"/>
          </a:xfrm>
          <a:prstGeom prst="roundRect">
            <a:avLst>
              <a:gd fmla="val 16667" name="adj"/>
            </a:avLst>
          </a:prstGeom>
          <a:solidFill>
            <a:srgbClr val="17CD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558800" y="1968800"/>
            <a:ext cx="2844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17CDBD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HACKATHON FOOTPRINT</a:t>
            </a:r>
            <a:endParaRPr b="1" sz="800">
              <a:solidFill>
                <a:srgbClr val="17CDBD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558800" y="2418700"/>
            <a:ext cx="28449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 database.</a:t>
            </a:r>
            <a:endParaRPr b="1" sz="16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 crawler fleet.</a:t>
            </a:r>
            <a:endParaRPr b="1" sz="16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 marketplace API.</a:t>
            </a:r>
            <a:endParaRPr b="1" sz="16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533350" y="3381338"/>
            <a:ext cx="2844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A8B7C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Maximum three Cloud Run instances.</a:t>
            </a:r>
            <a:endParaRPr sz="1200">
              <a:solidFill>
                <a:srgbClr val="A8B7C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3860800" y="1600200"/>
            <a:ext cx="2387700" cy="12192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3860800" y="1600200"/>
            <a:ext cx="63600" cy="1219200"/>
          </a:xfrm>
          <a:prstGeom prst="roundRect">
            <a:avLst>
              <a:gd fmla="val 16667" name="adj"/>
            </a:avLst>
          </a:prstGeom>
          <a:solidFill>
            <a:srgbClr val="775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4064000" y="1752600"/>
            <a:ext cx="203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7758F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COMPUTE</a:t>
            </a:r>
            <a:endParaRPr b="1" sz="1200">
              <a:solidFill>
                <a:srgbClr val="7758F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4064000" y="2006600"/>
            <a:ext cx="2031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Pay per request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4064000" y="2438400"/>
            <a:ext cx="203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 scales to zero.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6400800" y="1600200"/>
            <a:ext cx="2387700" cy="12192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>
            <a:off x="6400800" y="1600200"/>
            <a:ext cx="63600" cy="1219200"/>
          </a:xfrm>
          <a:prstGeom prst="roundRect">
            <a:avLst>
              <a:gd fmla="val 16667" name="adj"/>
            </a:avLst>
          </a:prstGeom>
          <a:solidFill>
            <a:srgbClr val="FFB4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6604000" y="1752600"/>
            <a:ext cx="203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6913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</a:t>
            </a:r>
            <a:endParaRPr b="1" sz="1200">
              <a:solidFill>
                <a:srgbClr val="E69138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6604000" y="2006600"/>
            <a:ext cx="2031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Usage based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6604000" y="2438400"/>
            <a:ext cx="20319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Extraction + grounded search.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3860800" y="3048000"/>
            <a:ext cx="2387700" cy="12828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3860800" y="3048000"/>
            <a:ext cx="63600" cy="1282800"/>
          </a:xfrm>
          <a:prstGeom prst="roundRect">
            <a:avLst>
              <a:gd fmla="val 16667" name="adj"/>
            </a:avLst>
          </a:prstGeom>
          <a:solidFill>
            <a:srgbClr val="17CD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4064000" y="3200400"/>
            <a:ext cx="203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17CDBD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STORAGE</a:t>
            </a:r>
            <a:endParaRPr b="1" sz="1200">
              <a:solidFill>
                <a:srgbClr val="17CDBD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4064000" y="3454400"/>
            <a:ext cx="2031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Near zero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4064000" y="3886200"/>
            <a:ext cx="203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 persistent shopper data.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6400800" y="3048000"/>
            <a:ext cx="2387700" cy="12828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6400800" y="3048000"/>
            <a:ext cx="63600" cy="1282800"/>
          </a:xfrm>
          <a:prstGeom prst="roundRect">
            <a:avLst>
              <a:gd fmla="val 16667" name="adj"/>
            </a:avLst>
          </a:prstGeom>
          <a:solidFill>
            <a:srgbClr val="B8F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6604000" y="3200400"/>
            <a:ext cx="203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6AA84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CONTROL</a:t>
            </a:r>
            <a:endParaRPr b="1" sz="1200">
              <a:solidFill>
                <a:srgbClr val="6AA84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>
            <a:off x="6604000" y="3454400"/>
            <a:ext cx="2031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Hard limits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6604000" y="3886200"/>
            <a:ext cx="20319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5 MB upload cap + max instances.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265350" y="663825"/>
            <a:ext cx="864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Google Sans Flex"/>
                <a:ea typeface="Google Sans Flex"/>
                <a:cs typeface="Google Sans Flex"/>
                <a:sym typeface="Google Sans Flex"/>
              </a:rPr>
              <a:t>Agent Results · Evidence Beyond the Price Tag</a:t>
            </a:r>
            <a:endParaRPr b="1" sz="16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366450" y="1034100"/>
            <a:ext cx="838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Real Shopee investigation: distinguish bundle quantities, seller matches and comparable platform prices.</a:t>
            </a:r>
            <a:endParaRPr sz="11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325" name="Google Shape;325;p23" title="Screenshot 2026-10-18 at 22.45.2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975" y="2179724"/>
            <a:ext cx="2266051" cy="141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3" title="Screenshot 2026-10-18 at 22.55.4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74000" y="1291339"/>
            <a:ext cx="3148525" cy="1734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3" title="Screenshot 2026-10-18 at 22.55.2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74000" y="3125364"/>
            <a:ext cx="3056427" cy="1880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3" title="Screenshot 2026-10-18 at 22.55.1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58250" y="1700587"/>
            <a:ext cx="3682150" cy="219972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3"/>
          <p:cNvSpPr/>
          <p:nvPr/>
        </p:nvSpPr>
        <p:spPr>
          <a:xfrm>
            <a:off x="2977650" y="2234388"/>
            <a:ext cx="2508600" cy="2835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3"/>
          <p:cNvSpPr/>
          <p:nvPr/>
        </p:nvSpPr>
        <p:spPr>
          <a:xfrm>
            <a:off x="6911850" y="3663339"/>
            <a:ext cx="1403400" cy="3276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2977650" y="2859413"/>
            <a:ext cx="2508600" cy="2835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7297225" y="1787139"/>
            <a:ext cx="1403400" cy="3759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265350" y="663825"/>
            <a:ext cx="864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Google Sans Flex"/>
                <a:ea typeface="Google Sans Flex"/>
                <a:cs typeface="Google Sans Flex"/>
                <a:sym typeface="Google Sans Flex"/>
              </a:rPr>
              <a:t>Measuring Agent Quality, Accuracy and Value</a:t>
            </a:r>
            <a:endParaRPr b="1" sz="16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41" name="Google Shape;341;p24"/>
          <p:cNvSpPr txBox="1"/>
          <p:nvPr/>
        </p:nvSpPr>
        <p:spPr>
          <a:xfrm>
            <a:off x="355600" y="1104900"/>
            <a:ext cx="838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Measure the reliability of each investigation—not just whether the API responds.</a:t>
            </a:r>
            <a:endParaRPr sz="11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355600" y="1651000"/>
            <a:ext cx="2565300" cy="16002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4"/>
          <p:cNvSpPr/>
          <p:nvPr/>
        </p:nvSpPr>
        <p:spPr>
          <a:xfrm>
            <a:off x="355600" y="1651000"/>
            <a:ext cx="63600" cy="1600200"/>
          </a:xfrm>
          <a:prstGeom prst="roundRect">
            <a:avLst>
              <a:gd fmla="val 16667" name="adj"/>
            </a:avLst>
          </a:prstGeom>
          <a:solidFill>
            <a:srgbClr val="B8F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558800" y="1803400"/>
            <a:ext cx="2364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6AA84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IDENTITY ACCURACY</a:t>
            </a:r>
            <a:endParaRPr b="1" sz="800">
              <a:solidFill>
                <a:srgbClr val="6AA84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45" name="Google Shape;345;p24"/>
          <p:cNvSpPr txBox="1"/>
          <p:nvPr/>
        </p:nvSpPr>
        <p:spPr>
          <a:xfrm>
            <a:off x="558800" y="2057400"/>
            <a:ext cx="2364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Precision + recall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46" name="Google Shape;346;p24"/>
          <p:cNvSpPr txBox="1"/>
          <p:nvPr/>
        </p:nvSpPr>
        <p:spPr>
          <a:xfrm>
            <a:off x="558800" y="2489200"/>
            <a:ext cx="23646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Check same-merchant identification against labelled cases.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3175000" y="1651000"/>
            <a:ext cx="2565300" cy="16002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4"/>
          <p:cNvSpPr/>
          <p:nvPr/>
        </p:nvSpPr>
        <p:spPr>
          <a:xfrm>
            <a:off x="3175000" y="1651000"/>
            <a:ext cx="63600" cy="1600200"/>
          </a:xfrm>
          <a:prstGeom prst="roundRect">
            <a:avLst>
              <a:gd fmla="val 16667" name="adj"/>
            </a:avLst>
          </a:prstGeom>
          <a:solidFill>
            <a:srgbClr val="17CD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4"/>
          <p:cNvSpPr txBox="1"/>
          <p:nvPr/>
        </p:nvSpPr>
        <p:spPr>
          <a:xfrm>
            <a:off x="3375156" y="1803400"/>
            <a:ext cx="2364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17CDBD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PRODUCT MATCHING</a:t>
            </a:r>
            <a:endParaRPr b="1" sz="800">
              <a:solidFill>
                <a:srgbClr val="17CDBD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50" name="Google Shape;350;p24"/>
          <p:cNvSpPr txBox="1"/>
          <p:nvPr/>
        </p:nvSpPr>
        <p:spPr>
          <a:xfrm>
            <a:off x="3375156" y="2057400"/>
            <a:ext cx="2364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Correct match rate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51" name="Google Shape;351;p24"/>
          <p:cNvSpPr txBox="1"/>
          <p:nvPr/>
        </p:nvSpPr>
        <p:spPr>
          <a:xfrm>
            <a:off x="3375156" y="2489200"/>
            <a:ext cx="23646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Test exact model, variant, bundle and warranty matches.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5994400" y="1651000"/>
            <a:ext cx="2793900" cy="16002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4"/>
          <p:cNvSpPr/>
          <p:nvPr/>
        </p:nvSpPr>
        <p:spPr>
          <a:xfrm>
            <a:off x="5994400" y="1651000"/>
            <a:ext cx="63600" cy="1600200"/>
          </a:xfrm>
          <a:prstGeom prst="roundRect">
            <a:avLst>
              <a:gd fmla="val 16667" name="adj"/>
            </a:avLst>
          </a:prstGeom>
          <a:solidFill>
            <a:srgbClr val="775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4"/>
          <p:cNvSpPr txBox="1"/>
          <p:nvPr/>
        </p:nvSpPr>
        <p:spPr>
          <a:xfrm>
            <a:off x="6191488" y="1784350"/>
            <a:ext cx="2609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7758F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PRICE + EVIDENCE</a:t>
            </a:r>
            <a:endParaRPr b="1" sz="800">
              <a:solidFill>
                <a:srgbClr val="7758F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6191488" y="2038350"/>
            <a:ext cx="2609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Accuracy + traceability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56" name="Google Shape;356;p24"/>
          <p:cNvSpPr txBox="1"/>
          <p:nvPr/>
        </p:nvSpPr>
        <p:spPr>
          <a:xfrm>
            <a:off x="6191488" y="2470150"/>
            <a:ext cx="2609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Compare shown prices with sources; flag missing costs.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369000" y="3670300"/>
            <a:ext cx="8432700" cy="736500"/>
          </a:xfrm>
          <a:prstGeom prst="roundRect">
            <a:avLst>
              <a:gd fmla="val 16667" name="adj"/>
            </a:avLst>
          </a:prstGeom>
          <a:solidFill>
            <a:srgbClr val="111C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4"/>
          <p:cNvSpPr txBox="1"/>
          <p:nvPr/>
        </p:nvSpPr>
        <p:spPr>
          <a:xfrm>
            <a:off x="573862" y="3885676"/>
            <a:ext cx="1222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FB45B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END-TO-END SUCCESS</a:t>
            </a:r>
            <a:endParaRPr b="1" sz="800">
              <a:solidFill>
                <a:srgbClr val="FFB45B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59" name="Google Shape;359;p24"/>
          <p:cNvSpPr txBox="1"/>
          <p:nvPr/>
        </p:nvSpPr>
        <p:spPr>
          <a:xfrm>
            <a:off x="1912632" y="3839476"/>
            <a:ext cx="66552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% of investigations returning correct, source-backed comparisons; track time and cost per check.</a:t>
            </a:r>
            <a:endParaRPr b="1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5"/>
          <p:cNvSpPr txBox="1"/>
          <p:nvPr/>
        </p:nvSpPr>
        <p:spPr>
          <a:xfrm>
            <a:off x="265350" y="663825"/>
            <a:ext cx="864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Google Sans Flex"/>
                <a:ea typeface="Google Sans Flex"/>
                <a:cs typeface="Google Sans Flex"/>
                <a:sym typeface="Google Sans Flex"/>
              </a:rPr>
              <a:t>Product Roadmap · From Price Checks to Trust Checks</a:t>
            </a:r>
            <a:endParaRPr b="1" sz="16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68" name="Google Shape;368;p25"/>
          <p:cNvSpPr txBox="1"/>
          <p:nvPr/>
        </p:nvSpPr>
        <p:spPr>
          <a:xfrm>
            <a:off x="355600" y="11049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Start with shopping transparency; extend evidence-first verification to other online content.</a:t>
            </a:r>
            <a:endParaRPr sz="11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355600" y="1651000"/>
            <a:ext cx="2603400" cy="23877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5"/>
          <p:cNvSpPr/>
          <p:nvPr/>
        </p:nvSpPr>
        <p:spPr>
          <a:xfrm>
            <a:off x="355600" y="1651000"/>
            <a:ext cx="63600" cy="2387700"/>
          </a:xfrm>
          <a:prstGeom prst="roundRect">
            <a:avLst>
              <a:gd fmla="val 16667" name="adj"/>
            </a:avLst>
          </a:prstGeom>
          <a:solidFill>
            <a:srgbClr val="B8F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5"/>
          <p:cNvSpPr txBox="1"/>
          <p:nvPr/>
        </p:nvSpPr>
        <p:spPr>
          <a:xfrm>
            <a:off x="558800" y="1803400"/>
            <a:ext cx="224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6AA84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NOW · SHOP CHECK</a:t>
            </a:r>
            <a:endParaRPr b="1" sz="800">
              <a:solidFill>
                <a:srgbClr val="6AA84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72" name="Google Shape;372;p25"/>
          <p:cNvSpPr txBox="1"/>
          <p:nvPr/>
        </p:nvSpPr>
        <p:spPr>
          <a:xfrm>
            <a:off x="558800" y="2057400"/>
            <a:ext cx="224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Working MVP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73" name="Google Shape;373;p25"/>
          <p:cNvSpPr txBox="1"/>
          <p:nvPr/>
        </p:nvSpPr>
        <p:spPr>
          <a:xfrm>
            <a:off x="558800" y="2489200"/>
            <a:ext cx="22479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Same-seller, same-product, or alternative product cross-platform comparison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Grounded evidence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Transparent uncertainty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3263900" y="1651000"/>
            <a:ext cx="2603400" cy="23877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5"/>
          <p:cNvSpPr/>
          <p:nvPr/>
        </p:nvSpPr>
        <p:spPr>
          <a:xfrm>
            <a:off x="3263900" y="1651000"/>
            <a:ext cx="63600" cy="2387700"/>
          </a:xfrm>
          <a:prstGeom prst="roundRect">
            <a:avLst>
              <a:gd fmla="val 16667" name="adj"/>
            </a:avLst>
          </a:prstGeom>
          <a:solidFill>
            <a:srgbClr val="17CD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5"/>
          <p:cNvSpPr txBox="1"/>
          <p:nvPr/>
        </p:nvSpPr>
        <p:spPr>
          <a:xfrm>
            <a:off x="3467100" y="1803400"/>
            <a:ext cx="224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17CDBD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NEXT · TRUST CHECKS</a:t>
            </a:r>
            <a:endParaRPr b="1" sz="800">
              <a:solidFill>
                <a:srgbClr val="17CDBD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77" name="Google Shape;377;p25"/>
          <p:cNvSpPr txBox="1"/>
          <p:nvPr/>
        </p:nvSpPr>
        <p:spPr>
          <a:xfrm>
            <a:off x="3467100" y="2057400"/>
            <a:ext cx="224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News + scam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78" name="Google Shape;378;p25"/>
          <p:cNvSpPr txBox="1"/>
          <p:nvPr/>
        </p:nvSpPr>
        <p:spPr>
          <a:xfrm>
            <a:off x="3467100" y="2489200"/>
            <a:ext cx="22479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Claim + source verification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Suspicious link signals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Evidence with uncertainty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6172200" y="1651000"/>
            <a:ext cx="2616300" cy="23877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5"/>
          <p:cNvSpPr/>
          <p:nvPr/>
        </p:nvSpPr>
        <p:spPr>
          <a:xfrm>
            <a:off x="6172200" y="1651000"/>
            <a:ext cx="63600" cy="2387700"/>
          </a:xfrm>
          <a:prstGeom prst="roundRect">
            <a:avLst>
              <a:gd fmla="val 16667" name="adj"/>
            </a:avLst>
          </a:prstGeom>
          <a:solidFill>
            <a:srgbClr val="775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5"/>
          <p:cNvSpPr txBox="1"/>
          <p:nvPr/>
        </p:nvSpPr>
        <p:spPr>
          <a:xfrm>
            <a:off x="6375400" y="1803400"/>
            <a:ext cx="226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7758F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SCALE · MEDIA CHECK</a:t>
            </a:r>
            <a:endParaRPr b="1" sz="800">
              <a:solidFill>
                <a:srgbClr val="7758F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82" name="Google Shape;382;p25"/>
          <p:cNvSpPr txBox="1"/>
          <p:nvPr/>
        </p:nvSpPr>
        <p:spPr>
          <a:xfrm>
            <a:off x="6375400" y="2057400"/>
            <a:ext cx="226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AI image + video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83" name="Google Shape;383;p25"/>
          <p:cNvSpPr txBox="1"/>
          <p:nvPr/>
        </p:nvSpPr>
        <p:spPr>
          <a:xfrm>
            <a:off x="6375400" y="2489200"/>
            <a:ext cx="2260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Provenance signals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Manipulation detection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Cross-modal evidence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6"/>
          <p:cNvSpPr txBox="1"/>
          <p:nvPr/>
        </p:nvSpPr>
        <p:spPr>
          <a:xfrm>
            <a:off x="355600" y="1104900"/>
            <a:ext cx="8382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Hackathon Deliverables · Code, Cloud App &amp; Extension</a:t>
            </a:r>
            <a:endParaRPr sz="11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92" name="Google Shape;392;p26"/>
          <p:cNvSpPr/>
          <p:nvPr/>
        </p:nvSpPr>
        <p:spPr>
          <a:xfrm>
            <a:off x="355600" y="1625600"/>
            <a:ext cx="8432700" cy="10413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6"/>
          <p:cNvSpPr/>
          <p:nvPr/>
        </p:nvSpPr>
        <p:spPr>
          <a:xfrm>
            <a:off x="355600" y="1625600"/>
            <a:ext cx="63600" cy="1041300"/>
          </a:xfrm>
          <a:prstGeom prst="roundRect">
            <a:avLst>
              <a:gd fmla="val 16667" name="adj"/>
            </a:avLst>
          </a:prstGeom>
          <a:solidFill>
            <a:srgbClr val="7758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6"/>
          <p:cNvSpPr txBox="1"/>
          <p:nvPr/>
        </p:nvSpPr>
        <p:spPr>
          <a:xfrm>
            <a:off x="558800" y="1753625"/>
            <a:ext cx="8077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7758F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SOURCE CODE · GITHUB</a:t>
            </a:r>
            <a:endParaRPr b="1" sz="800">
              <a:solidFill>
                <a:srgbClr val="7758F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558800" y="1980175"/>
            <a:ext cx="8077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github.com/sgirabin/2026-aibuildercup-hackathon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558800" y="2330031"/>
            <a:ext cx="807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 implementation, browser extension, tests and deployment instructions.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355600" y="2895600"/>
            <a:ext cx="4089300" cy="12066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6"/>
          <p:cNvSpPr/>
          <p:nvPr/>
        </p:nvSpPr>
        <p:spPr>
          <a:xfrm>
            <a:off x="355600" y="2895600"/>
            <a:ext cx="63600" cy="1206600"/>
          </a:xfrm>
          <a:prstGeom prst="roundRect">
            <a:avLst>
              <a:gd fmla="val 16667" name="adj"/>
            </a:avLst>
          </a:prstGeom>
          <a:solidFill>
            <a:srgbClr val="17CDB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6"/>
          <p:cNvSpPr txBox="1"/>
          <p:nvPr/>
        </p:nvSpPr>
        <p:spPr>
          <a:xfrm>
            <a:off x="558800" y="3048000"/>
            <a:ext cx="3733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17CDBD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DEPLOYED WEB APP</a:t>
            </a:r>
            <a:endParaRPr b="1" sz="800">
              <a:solidFill>
                <a:srgbClr val="17CDBD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400" name="Google Shape;400;p26"/>
          <p:cNvSpPr txBox="1"/>
          <p:nvPr/>
        </p:nvSpPr>
        <p:spPr>
          <a:xfrm>
            <a:off x="558800" y="3302000"/>
            <a:ext cx="3733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Google Cloud Run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401" name="Google Shape;401;p26"/>
          <p:cNvSpPr txBox="1"/>
          <p:nvPr/>
        </p:nvSpPr>
        <p:spPr>
          <a:xfrm>
            <a:off x="558800" y="3640850"/>
            <a:ext cx="373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shopproof-133701402785.asia-southeast1.run.app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402" name="Google Shape;402;p26"/>
          <p:cNvSpPr/>
          <p:nvPr/>
        </p:nvSpPr>
        <p:spPr>
          <a:xfrm>
            <a:off x="4699000" y="2895600"/>
            <a:ext cx="4089300" cy="12066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4699000" y="2895600"/>
            <a:ext cx="63600" cy="1206600"/>
          </a:xfrm>
          <a:prstGeom prst="roundRect">
            <a:avLst>
              <a:gd fmla="val 16667" name="adj"/>
            </a:avLst>
          </a:prstGeom>
          <a:solidFill>
            <a:srgbClr val="B8F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6"/>
          <p:cNvSpPr txBox="1"/>
          <p:nvPr/>
        </p:nvSpPr>
        <p:spPr>
          <a:xfrm>
            <a:off x="4902200" y="3048000"/>
            <a:ext cx="3733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6AA84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BROWSER EXTENSION</a:t>
            </a:r>
            <a:endParaRPr b="1" sz="800">
              <a:solidFill>
                <a:srgbClr val="6AA84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405" name="Google Shape;405;p26"/>
          <p:cNvSpPr txBox="1"/>
          <p:nvPr/>
        </p:nvSpPr>
        <p:spPr>
          <a:xfrm>
            <a:off x="4902200" y="3302000"/>
            <a:ext cx="3733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Chrome extension / plugin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406" name="Google Shape;406;p26"/>
          <p:cNvSpPr txBox="1"/>
          <p:nvPr/>
        </p:nvSpPr>
        <p:spPr>
          <a:xfrm>
            <a:off x="4902200" y="3640850"/>
            <a:ext cx="373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2748A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In-page price check connected to the Cloud Run API.</a:t>
            </a:r>
            <a:endParaRPr sz="1200">
              <a:solidFill>
                <a:srgbClr val="62748A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407" name="Google Shape;407;p26"/>
          <p:cNvSpPr txBox="1"/>
          <p:nvPr/>
        </p:nvSpPr>
        <p:spPr>
          <a:xfrm>
            <a:off x="355600" y="647700"/>
            <a:ext cx="843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182230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KiasuCheck: Explore the code, try the web app and use the extension</a:t>
            </a:r>
            <a:endParaRPr b="1" sz="1600">
              <a:solidFill>
                <a:srgbClr val="182230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7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